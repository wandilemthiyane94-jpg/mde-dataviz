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69951-82BE-4EE2-882B-7733CADF4D4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A6800-A915-4D9E-B376-8FA43F5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21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THE VIEWER DOES: Scrolls. Each scroll adds one layer. No clicking needed.</a:t>
            </a:r>
          </a:p>
          <a:p>
            <a:r>
              <a:rPr lang="en-US"/>
              <a:t>HOW THE STORY BUILDS: A place, then a pattern, then the world, then a test, then the cause.</a:t>
            </a:r>
          </a:p>
          <a:p>
            <a:r>
              <a:rPr lang="en-US"/>
              <a:t>WHAT THEY LEAVE WITH: “The information existed. Nobody owned the outcome.”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8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SEES FIRST: Durban from space. Satellite water, then the city's own 1-in-100-year floodplain.</a:t>
            </a:r>
          </a:p>
          <a:p>
            <a:r>
              <a:rPr lang="en-US"/>
              <a:t>WHAT CHANGES: Scroll, and 28 amber camps drop onto the map. A stat card counts them.</a:t>
            </a:r>
          </a:p>
          <a:p>
            <a:r>
              <a:rPr lang="en-US"/>
              <a:t>TAKEAWAY: Camps land on flood ground about as often as chance (11 of 28, 39%, vs 34% of random ground; binomial p = 0.34). The flood map made no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6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SEES: The same map. The water pulses back over 3 camps (Gwala St, Madamfana, Isipingo).</a:t>
            </a:r>
          </a:p>
          <a:p>
            <a:r>
              <a:rPr lang="en-US"/>
              <a:t>WHAT CHANGES: A timeline builds beside it: moved, flooded, moved, flooded, 5 dead (Feb 2025).</a:t>
            </a:r>
          </a:p>
          <a:p>
            <a:r>
              <a:rPr lang="en-US"/>
              <a:t>TAKEAWAY: It isn't one bad flood. It's a loop along the same river. 7 sites nationally (30 of 84 searched).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98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SEES: Zoom out to timelines of relocation sites worldwide (Chennai, Kasiglahan, Corail, Cox's Bazar). Red dots are floods after the move.</a:t>
            </a:r>
          </a:p>
          <a:p>
            <a:r>
              <a:rPr lang="en-US"/>
              <a:t>WHAT CHANGES: Scroll, and the control group slides in (Grantham, Iwanuma, Gramalote, Overdiepse, Vunidogoloa): green lines, no dots.</a:t>
            </a:r>
          </a:p>
          <a:p>
            <a:r>
              <a:rPr lang="en-US"/>
              <a:t>TAKEAWAY: Same rain, different outcome. Something in how they're run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3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SEES: Six usual answers as cards (doesn't care, people are poor, corruption, incompetence, climate, money), each crossed out with its evidence: makes it worse, doesn't explain it.</a:t>
            </a:r>
          </a:p>
          <a:p>
            <a:r>
              <a:rPr lang="en-US"/>
              <a:t>WHAT CHANGES: The cards clear. South Africa's chain draws itself: SAWS, Disaster Mgmt, Municipality, Province, Housing, Land, Temporary shelter, Permanent housing. 8 links, 3 spheres, x at every hand-off.</a:t>
            </a:r>
          </a:p>
          <a:p>
            <a:r>
              <a:rPr lang="en-US"/>
              <a:t>TAKEAWAY: Different institutions, budgets and authority. No end-to-end owner. Compare: the control group has ONE owner plus residents at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21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SEES: The first map returns, with the system drawn over it.</a:t>
            </a:r>
          </a:p>
          <a:p>
            <a:r>
              <a:rPr lang="en-US"/>
              <a:t>WHAT CHANGES: Each holder of information lights up: SAWS had the forecast, the city had the flood map, the Auditor-General flagged the site, the province owns the shelters, the councillor sent families back. None is connected to the camp.</a:t>
            </a:r>
          </a:p>
          <a:p>
            <a:r>
              <a:rPr lang="en-US"/>
              <a:t>TAKEAWAY: “South Africa has the information. The institutions that possess it do not control the decisions that determine exposure.”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A6800-A915-4D9E-B376-8FA43F552B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172A-369E-5FF3-5F17-D3D5CF12B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30AC5-21BA-3B25-0A34-937312F46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EAF7-8BAC-876D-2CD4-F05EEC3A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A8EAC-EC2C-398E-CA73-CA3D3BA7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86FB1-933C-88E7-78D1-B843812C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8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BCBE-E418-7B4C-F984-3CD0F1DA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E1A7E-0F51-21C3-E3B7-A75F286A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0C03E-20BD-E228-0B35-C91F9AD5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9D6E-C975-12FB-999B-A58CA9F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0486A-A709-4AAD-8F62-0E42B963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2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78A2-26B3-38A0-56B6-02E426D8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E1A4C-5ED6-4F05-D947-BD0631F25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42344-53BC-63DA-37A2-68ACF6A3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D6828-2A93-5020-C564-08A9F4FC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45F0-8EF1-6887-5800-D063D87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8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D5B9-47AE-4F37-FFF2-9D4A2175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3358-8606-B02A-E204-E82E9DF72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46320-40CF-A22C-215D-0941F75F8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DB7CB-0C8A-07BD-DBB7-9F5E38FD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0353-48B8-23BF-62A1-683D26BB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C208C-E56F-B15A-2E09-52149DFD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4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CAD-D7B1-B062-862A-ABFE54BEC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8B88B-36EB-E55A-F622-765D3DB9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CC414-5BCC-55A8-1DDB-DA960BFA2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308BA-7A07-2C25-A583-3DB072E0F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961EE6-9E6B-D8F2-8110-B90EBD906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3C8896-2554-9E5E-A1A0-A4A810E3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B7565-5628-E45D-7FAF-0A03D730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A3CCE-553B-4F70-B087-BB84C857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4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4EFD-E3E6-B454-0E6A-11107FC9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C769D-4387-D02B-DE6E-7AB8FC58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2483B-45F6-6FCD-5D02-EB6B4FAB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4C3BB-B90E-B487-F824-2C04EA98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8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6C4C6-A366-1A26-ADE6-7511791A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E0A84-2424-1265-776C-F1E509CA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0C001-697E-1F36-7367-9705080F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6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AD56-143B-217D-C18E-D0A694B1E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0D581-5750-03E7-2201-B62752829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1E077-353F-24B9-8D25-E7A96F4CC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4C5F2-F1DA-B63E-E11E-FD0E97B1F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52465-8D64-191A-5243-1D0F7A9E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B795C-90D8-6384-BDFE-91D279FA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4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0F5F-425E-DE66-0E19-A754304E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BD117-1CFA-D555-DE9D-8945D832F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58B8B-4410-0160-8E89-DD561BF1C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C293B-B391-639F-7809-99C684DC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ED663-D177-A45E-595E-3B778DC4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0289-879A-1B65-14EB-4A022657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0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2260-C24B-4584-6264-F4650B13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8001A-C300-2BEC-C00F-B340F7D1E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D5B92-AFB1-B044-62F0-AAE29933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B738-4E75-033F-69C8-8B4BF1A5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97B-3AA7-2D06-E20D-41201DE8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5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9289B-7C72-C261-AB07-A41E40411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045AA-5F3A-089B-52EC-10E62B2CA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7BFDB-2683-41DB-EEE9-1CD148D6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AAA5A-2C42-1CB1-0181-F02D2D75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0A19-FC26-0E2C-6844-684B52B5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C2D61-4100-3AC4-E38A-39F3B2CD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8D71E-7E8D-A6F7-98AA-3A40D852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E7A69-96AA-A49C-DCC0-516BFB1A2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168E6-2307-49E6-8255-9FAF27B1B20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428DF-79C5-A5AA-C267-1E2843323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5CFF0-66E6-7C88-EBBE-1C96F0B8E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9294D-4D79-4DDC-8828-C7B4AB6FE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6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EB138-6904-7D1D-A813-7F542B3FF411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Who owns the flood?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51ADE-DF42-404F-37C4-28ABEC2A8998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The flow: 7 states in 5 frames. Scroll, and each frame adds one layer.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43407-6CDA-5374-9781-6BB30C31CEFB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C04AD-5767-18DB-D969-B134505566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9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40FC26-45F7-9960-042F-C57C82C7AE8D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01 · Water → People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A4D45-6D46-FD52-869D-A8B8ECCC67D3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Where does the water go? Where did we put people?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178C0-FB02-7884-563D-8BFFB8240364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76DEA-37E6-EC58-1F62-E1F0080C9B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1B5EE-7B00-3BD2-EF2B-072B3B1D39A1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02 · The return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5F745-1C6F-DE88-7CF2-C75EDFFEF243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What happens when the people we moved flood again?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5DDAB-DDDE-4235-6DF8-25E0A1C7B8D9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F3BD1-8A4D-79EC-38F1-E26873D38C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0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13B3B-5C9D-2A09-95DC-6B4BE4346BA8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03 · Comparison → Control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2DF45-6D8B-A577-3B5E-DFC9D206C693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Is this uniquely South African? So what is different?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4E638-BC10-A07E-030A-B5B82406E981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85266-71D4-9B0F-A6E3-58A0011A32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7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D45C6-12A7-27C1-DEE2-0EB375ABF3CF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04 · Usual answers → The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2BEF2-5581-7F87-1472-872A3BAF5B8F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Is it that they don't care? That people are poor?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BC65B-895C-536E-9B64-CE0C474ACA11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693C1-4BEC-9AB0-1AD9-51A743E6E0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4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256C14-66DE-1885-2856-6AE18ADB45E4}"/>
              </a:ext>
            </a:extLst>
          </p:cNvPr>
          <p:cNvSpPr txBox="1"/>
          <p:nvPr/>
        </p:nvSpPr>
        <p:spPr>
          <a:xfrm>
            <a:off x="457200" y="177800"/>
            <a:ext cx="762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222222"/>
                </a:solidFill>
                <a:latin typeface="Segoe Print" panose="02000600000000000000" pitchFamily="2" charset="0"/>
              </a:rPr>
              <a:t>05 · The reveal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C86F0-D165-0E3A-D4E9-375A3F5E824A}"/>
              </a:ext>
            </a:extLst>
          </p:cNvPr>
          <p:cNvSpPr txBox="1"/>
          <p:nvPr/>
        </p:nvSpPr>
        <p:spPr>
          <a:xfrm>
            <a:off x="457200" y="635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6E6E6E"/>
                </a:solidFill>
                <a:latin typeface="Segoe Print" panose="02000600000000000000" pitchFamily="2" charset="0"/>
              </a:rPr>
              <a:t>The problem wasn't that nobody knew.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06FE4-D8F1-3BF2-033E-54BD912D4209}"/>
              </a:ext>
            </a:extLst>
          </p:cNvPr>
          <p:cNvSpPr txBox="1"/>
          <p:nvPr/>
        </p:nvSpPr>
        <p:spPr>
          <a:xfrm>
            <a:off x="8128000" y="203200"/>
            <a:ext cx="3683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800">
                <a:solidFill>
                  <a:srgbClr val="6E6E6E"/>
                </a:solidFill>
                <a:latin typeface="Consolas" panose="020B0609020204030204" pitchFamily="49" charset="0"/>
              </a:rPr>
              <a:t>Hollie &amp; Wandile · Harvard GSD MDE · wireframes v1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F27F8-DF7A-FB75-2F00-375E4E366A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17600"/>
            <a:ext cx="109728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Custom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Mthiyane, Wandile</dc:creator>
  <cp:lastModifiedBy>Mthiyane, Wandile</cp:lastModifiedBy>
  <cp:revision>1</cp:revision>
  <dcterms:created xsi:type="dcterms:W3CDTF">2026-09-28T01:38:19Z</dcterms:created>
  <dcterms:modified xsi:type="dcterms:W3CDTF">2026-09-28T01:38:19Z</dcterms:modified>
</cp:coreProperties>
</file>